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EA09C5-5880-4A2D-B606-AEB3A7E5335E}">
  <a:tblStyle styleId="{72EA09C5-5880-4A2D-B606-AEB3A7E533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ff3c38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ff3c38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7ff3c38e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7ff3c38e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7ff3c38e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7ff3c38e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7ff3c38e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7ff3c38e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Research Survey &amp; Baseline Reproduction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Stephen Ebert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June 2025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Papers Survey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669700" cy="39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82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Char char="●"/>
            </a:pPr>
            <a:r>
              <a:rPr lang="en" sz="2042">
                <a:solidFill>
                  <a:schemeClr val="dk1"/>
                </a:solidFill>
              </a:rPr>
              <a:t>CLIP (Radford et al., 2021)</a:t>
            </a:r>
            <a:endParaRPr sz="204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Zero‐shot image↔text retrieval via contrastive </a:t>
            </a:r>
            <a:r>
              <a:rPr lang="en" sz="1672">
                <a:solidFill>
                  <a:schemeClr val="dk1"/>
                </a:solidFill>
              </a:rPr>
              <a:t>pre-training</a:t>
            </a:r>
            <a:r>
              <a:rPr lang="en" sz="1672">
                <a:solidFill>
                  <a:schemeClr val="dk1"/>
                </a:solidFill>
              </a:rPr>
              <a:t> on 400M pairs  </a:t>
            </a:r>
            <a:endParaRPr sz="167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COCO R@1: 58.4% image→text, 37.8% text→image  </a:t>
            </a:r>
            <a:endParaRPr sz="1672">
              <a:solidFill>
                <a:schemeClr val="dk1"/>
              </a:solidFill>
            </a:endParaRPr>
          </a:p>
          <a:p>
            <a:pPr indent="-3582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Char char="●"/>
            </a:pPr>
            <a:r>
              <a:rPr lang="en" sz="2042">
                <a:solidFill>
                  <a:schemeClr val="dk1"/>
                </a:solidFill>
              </a:rPr>
              <a:t>Reverse Stable Diffusion (Croitoru et al., 2023)</a:t>
            </a:r>
            <a:endParaRPr sz="204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Inverts SD images→prompts with a CLIP regression + classification head </a:t>
            </a:r>
            <a:endParaRPr sz="167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 Achieves BLEU-2=32.5, embedding cosine=0.84 </a:t>
            </a:r>
            <a:endParaRPr sz="1672">
              <a:solidFill>
                <a:schemeClr val="dk1"/>
              </a:solidFill>
            </a:endParaRPr>
          </a:p>
          <a:p>
            <a:pPr indent="-3582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Char char="●"/>
            </a:pPr>
            <a:r>
              <a:rPr lang="en" sz="2042">
                <a:solidFill>
                  <a:schemeClr val="dk1"/>
                </a:solidFill>
              </a:rPr>
              <a:t>Extensions:  </a:t>
            </a:r>
            <a:endParaRPr sz="204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X-modaler (Ye Li et al., 2021): unified CLIP toolkit for retrieval, VQA, captioning  </a:t>
            </a:r>
            <a:endParaRPr sz="167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 HAT (Yi Bin et al., 2023): hierarchical transformer alignment for improved R@1</a:t>
            </a:r>
            <a:endParaRPr sz="1672">
              <a:solidFill>
                <a:schemeClr val="dk1"/>
              </a:solidFill>
            </a:endParaRPr>
          </a:p>
          <a:p>
            <a:pPr indent="-33480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3"/>
              <a:buChar char="○"/>
            </a:pPr>
            <a:r>
              <a:rPr lang="en" sz="1672">
                <a:solidFill>
                  <a:schemeClr val="dk1"/>
                </a:solidFill>
              </a:rPr>
              <a:t> DCLIP (Csizmadia et al., 2025): distillation boosts COCO R@1 to 64.1%  </a:t>
            </a:r>
            <a:endParaRPr sz="167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 Baseline on COCO Val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4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4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505">
                <a:solidFill>
                  <a:schemeClr val="dk1"/>
                </a:solidFill>
              </a:rPr>
              <a:t>Example</a:t>
            </a:r>
            <a:endParaRPr sz="65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505">
                <a:solidFill>
                  <a:schemeClr val="dk1"/>
                </a:solidFill>
              </a:rPr>
              <a:t>Image: &lt;insert screenshot of one COCO or Flickr image&gt;</a:t>
            </a:r>
            <a:endParaRPr sz="65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505">
                <a:solidFill>
                  <a:schemeClr val="dk1"/>
                </a:solidFill>
              </a:rPr>
              <a:t>GT caption: “A dog runs through a field.”  </a:t>
            </a:r>
            <a:endParaRPr sz="65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505">
                <a:solidFill>
                  <a:schemeClr val="dk1"/>
                </a:solidFill>
              </a:rPr>
              <a:t>Predicted caption: “A dog running in the grass.”</a:t>
            </a:r>
            <a:endParaRPr sz="65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7127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{72EA09C5-5880-4A2D-B606-AEB3A7E5335E}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Insights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Recall@1 (1st caption only): 0.81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Single‐caption eval inflates R@1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Paper’s reported Recall@1: 0.58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Small sample (100 vs 5K images) raises variance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Qualitative examples show semantically correct matches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CLIP embeddings capture high-level semantics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Enhancements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37150" y="1017725"/>
            <a:ext cx="8669700" cy="3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 Full-caption Recall@1  </a:t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Count a hit if top-1 caption matches any of the 5 ground-truth  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Text→Image Retrieval  </a:t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Compute caption→image Recall@1 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Scale Evaluation  </a:t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Run both metrics on ≥1,000 randomly sampled images  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Prompt-Inversion Integration  </a:t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Attach Croitoru inversion head to CLIP image embeddings 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Evaluate on held-out SD prompt dataset  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Round-Trip Pipeline  </a:t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Image→prompt→image 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Measure reconstruction quality (CLIP score, LPIPS)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064700" y="276325"/>
            <a:ext cx="1110300" cy="87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7064700" y="423575"/>
            <a:ext cx="207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Image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7308600" y="1193413"/>
            <a:ext cx="428700" cy="42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549000" y="1612125"/>
            <a:ext cx="1947900" cy="103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CLIP retrieval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7308600" y="2636988"/>
            <a:ext cx="428700" cy="42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584100" y="3059688"/>
            <a:ext cx="1877700" cy="97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Inversion head </a:t>
            </a:r>
            <a:endParaRPr sz="2000"/>
          </a:p>
        </p:txBody>
      </p:sp>
      <p:sp>
        <p:nvSpPr>
          <p:cNvPr id="81" name="Google Shape;81;p16"/>
          <p:cNvSpPr/>
          <p:nvPr/>
        </p:nvSpPr>
        <p:spPr>
          <a:xfrm>
            <a:off x="6624150" y="4385050"/>
            <a:ext cx="1670700" cy="67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SD generation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198450" y="4035888"/>
            <a:ext cx="428700" cy="42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Timeline &amp; Next Steps</a:t>
            </a:r>
            <a:endParaRPr/>
          </a:p>
        </p:txBody>
      </p:sp>
      <p:graphicFrame>
        <p:nvGraphicFramePr>
          <p:cNvPr id="88" name="Google Shape;88;p17"/>
          <p:cNvGraphicFramePr/>
          <p:nvPr/>
        </p:nvGraphicFramePr>
        <p:xfrm>
          <a:off x="1134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{72EA09C5-5880-4A2D-B606-AEB3A7E5335E}</a:tableStyleId>
              </a:tblPr>
              <a:tblGrid>
                <a:gridCol w="3404900"/>
                <a:gridCol w="3404900"/>
              </a:tblGrid>
              <a:tr h="3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Week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Task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Full-caption &amp; text→image metrics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 to 1,000+ images; refine preprocessing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Integrate inversion head; run experiments   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 round-trip demo; quantify reconstructions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Write-up, polish notebooks &amp; scripts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7"/>
          <p:cNvSpPr txBox="1"/>
          <p:nvPr/>
        </p:nvSpPr>
        <p:spPr>
          <a:xfrm>
            <a:off x="113400" y="4286975"/>
            <a:ext cx="866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Datasets used: COCO Val2017 captions, Stable Diffusion prompt pairs, and Flickr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