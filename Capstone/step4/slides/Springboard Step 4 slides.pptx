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989465-6DD6-43E2-9F62-2A3F7CD731B6}">
  <a:tblStyle styleId="{42989465-6DD6-43E2-9F62-2A3F7CD731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7ff3c38e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7ff3c38e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67ff3c38e1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67ff3c38e1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67ff3c38e1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67ff3c38e1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67ff3c38e1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67ff3c38e1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4: Research Survey &amp; Baseline Reproduction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Stephen Ebert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June 2025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Papers Survey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669700" cy="390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82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42"/>
              <a:buChar char="●"/>
            </a:pPr>
            <a:r>
              <a:rPr lang="en" sz="2042">
                <a:solidFill>
                  <a:schemeClr val="dk1"/>
                </a:solidFill>
              </a:rPr>
              <a:t>CLIP (Radford et al., 2021)</a:t>
            </a:r>
            <a:endParaRPr sz="204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Zero‐shot image↔text retrieval via contrastive </a:t>
            </a:r>
            <a:r>
              <a:rPr lang="en" sz="1672">
                <a:solidFill>
                  <a:schemeClr val="dk1"/>
                </a:solidFill>
              </a:rPr>
              <a:t>pre-training</a:t>
            </a:r>
            <a:r>
              <a:rPr lang="en" sz="1672">
                <a:solidFill>
                  <a:schemeClr val="dk1"/>
                </a:solidFill>
              </a:rPr>
              <a:t> on 400M pairs  </a:t>
            </a:r>
            <a:endParaRPr sz="167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COCO R@1: 58.4% image→text, 37.8% text→image  </a:t>
            </a:r>
            <a:endParaRPr sz="1672">
              <a:solidFill>
                <a:schemeClr val="dk1"/>
              </a:solidFill>
            </a:endParaRPr>
          </a:p>
          <a:p>
            <a:pPr indent="-3582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42"/>
              <a:buChar char="●"/>
            </a:pPr>
            <a:r>
              <a:rPr lang="en" sz="2042">
                <a:solidFill>
                  <a:schemeClr val="dk1"/>
                </a:solidFill>
              </a:rPr>
              <a:t>Reverse Stable Diffusion (Croitoru et al., 2023)</a:t>
            </a:r>
            <a:endParaRPr sz="204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Inverts SD images→prompts with a CLIP regression + classification head </a:t>
            </a:r>
            <a:endParaRPr sz="167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 Achieves BLEU-2=32.5, embedding cosine=0.84 </a:t>
            </a:r>
            <a:endParaRPr sz="1672">
              <a:solidFill>
                <a:schemeClr val="dk1"/>
              </a:solidFill>
            </a:endParaRPr>
          </a:p>
          <a:p>
            <a:pPr indent="-358298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42"/>
              <a:buChar char="●"/>
            </a:pPr>
            <a:r>
              <a:rPr lang="en" sz="2042">
                <a:solidFill>
                  <a:schemeClr val="dk1"/>
                </a:solidFill>
              </a:rPr>
              <a:t>Extensions:  </a:t>
            </a:r>
            <a:endParaRPr sz="204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X-modaler (Ye Li et al., 2021): unified CLIP toolkit for retrieval, VQA, captioning  </a:t>
            </a:r>
            <a:endParaRPr sz="167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 HAT (Yi Bin et al., 2023): hierarchical transformer alignment for improved R@1</a:t>
            </a:r>
            <a:endParaRPr sz="1672">
              <a:solidFill>
                <a:schemeClr val="dk1"/>
              </a:solidFill>
            </a:endParaRPr>
          </a:p>
          <a:p>
            <a:pPr indent="-334803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73"/>
              <a:buChar char="○"/>
            </a:pPr>
            <a:r>
              <a:rPr lang="en" sz="1672">
                <a:solidFill>
                  <a:schemeClr val="dk1"/>
                </a:solidFill>
              </a:rPr>
              <a:t> DCLIP (Csizmadia et al., 2025): distillation boosts COCO R@1 to 64.1%  </a:t>
            </a:r>
            <a:endParaRPr sz="1672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t/>
            </a:r>
            <a:endParaRPr sz="1665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CLIP Baseline on COCO Val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410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345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6505">
                <a:solidFill>
                  <a:schemeClr val="dk1"/>
                </a:solidFill>
              </a:rPr>
              <a:t>Example</a:t>
            </a:r>
            <a:endParaRPr sz="6505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6505">
                <a:solidFill>
                  <a:schemeClr val="dk1"/>
                </a:solidFill>
              </a:rPr>
              <a:t>Image: &lt;insert screenshot of one COCO or Flickr image&gt;</a:t>
            </a:r>
            <a:endParaRPr sz="6505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6505">
                <a:solidFill>
                  <a:schemeClr val="dk1"/>
                </a:solidFill>
              </a:rPr>
              <a:t>GT caption: “A dog runs through a field.”  </a:t>
            </a:r>
            <a:endParaRPr sz="6505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6505">
                <a:solidFill>
                  <a:schemeClr val="dk1"/>
                </a:solidFill>
              </a:rPr>
              <a:t>Predicted caption: “A dog running in the grass.”</a:t>
            </a:r>
            <a:endParaRPr sz="6505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68" name="Google Shape;68;p15"/>
          <p:cNvGraphicFramePr/>
          <p:nvPr/>
        </p:nvGraphicFramePr>
        <p:xfrm>
          <a:off x="712750" y="1017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{42989465-6DD6-43E2-9F62-2A3F7CD731B6}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Key Insights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Recall@1 (1st caption only): 0.81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Single‐caption eval inflates R@1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Paper’s reported Recall@1: 0.58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sample (100 vs 5K images) raises variance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Qualitative examples show semantically correct matches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CLIP embeddings capture high-level semantics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Enhancements</a:t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237150" y="1017725"/>
            <a:ext cx="8669700" cy="389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AutoNum type="arabicPeriod"/>
            </a:pPr>
            <a:r>
              <a:rPr lang="en" sz="1900">
                <a:solidFill>
                  <a:schemeClr val="dk1"/>
                </a:solidFill>
              </a:rPr>
              <a:t> Full-caption Recall@1  </a:t>
            </a:r>
            <a:endParaRPr sz="19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Count a hit if top-1 caption matches any of the 5 ground-truth  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AutoNum type="arabicPeriod"/>
            </a:pPr>
            <a:r>
              <a:rPr lang="en" sz="1900">
                <a:solidFill>
                  <a:schemeClr val="dk1"/>
                </a:solidFill>
              </a:rPr>
              <a:t>Text→Image Retrieval  </a:t>
            </a:r>
            <a:endParaRPr sz="19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Compute caption→image Recall@1 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AutoNum type="arabicPeriod"/>
            </a:pPr>
            <a:r>
              <a:rPr lang="en" sz="1900">
                <a:solidFill>
                  <a:schemeClr val="dk1"/>
                </a:solidFill>
              </a:rPr>
              <a:t>Scale Evaluation  </a:t>
            </a:r>
            <a:endParaRPr sz="19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Run both metrics on ≥1,000 randomly sampled images  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AutoNum type="arabicPeriod"/>
            </a:pPr>
            <a:r>
              <a:rPr lang="en" sz="1900">
                <a:solidFill>
                  <a:schemeClr val="dk1"/>
                </a:solidFill>
              </a:rPr>
              <a:t>Prompt-Inversion Integration  </a:t>
            </a:r>
            <a:endParaRPr sz="19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Attach Croitoru inversion head to CLIP image embeddings  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 </a:t>
            </a:r>
            <a:r>
              <a:rPr lang="en" sz="1500">
                <a:solidFill>
                  <a:schemeClr val="dk1"/>
                </a:solidFill>
              </a:rPr>
              <a:t>Evaluate on held-out SD prompt dataset  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AutoNum type="arabicPeriod"/>
            </a:pPr>
            <a:r>
              <a:rPr lang="en" sz="1900">
                <a:solidFill>
                  <a:schemeClr val="dk1"/>
                </a:solidFill>
              </a:rPr>
              <a:t>Round-Trip Pipeline  </a:t>
            </a:r>
            <a:endParaRPr sz="19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Image→prompt→image  </a:t>
            </a:r>
            <a:endParaRPr sz="1500">
              <a:solidFill>
                <a:schemeClr val="dk1"/>
              </a:solidFill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lphaLcPeriod"/>
            </a:pPr>
            <a:r>
              <a:rPr lang="en" sz="1500">
                <a:solidFill>
                  <a:schemeClr val="dk1"/>
                </a:solidFill>
              </a:rPr>
              <a:t>Measure reconstruction quality (CLIP score, LPIPS)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7064700" y="276325"/>
            <a:ext cx="1110300" cy="8760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 txBox="1"/>
          <p:nvPr/>
        </p:nvSpPr>
        <p:spPr>
          <a:xfrm>
            <a:off x="7064700" y="423575"/>
            <a:ext cx="2079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</a:rPr>
              <a:t>Image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7308600" y="1193413"/>
            <a:ext cx="428700" cy="4227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6"/>
          <p:cNvSpPr/>
          <p:nvPr/>
        </p:nvSpPr>
        <p:spPr>
          <a:xfrm>
            <a:off x="6549000" y="1612125"/>
            <a:ext cx="1947900" cy="1038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</a:rPr>
              <a:t>CLIP retrieval </a:t>
            </a:r>
            <a:endParaRPr sz="25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/>
          <p:nvPr/>
        </p:nvSpPr>
        <p:spPr>
          <a:xfrm>
            <a:off x="7308600" y="2636988"/>
            <a:ext cx="428700" cy="4227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6584100" y="3059688"/>
            <a:ext cx="1877700" cy="9762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Inversion head </a:t>
            </a:r>
            <a:endParaRPr sz="2000"/>
          </a:p>
        </p:txBody>
      </p:sp>
      <p:sp>
        <p:nvSpPr>
          <p:cNvPr id="81" name="Google Shape;81;p16"/>
          <p:cNvSpPr/>
          <p:nvPr/>
        </p:nvSpPr>
        <p:spPr>
          <a:xfrm>
            <a:off x="6624150" y="4385050"/>
            <a:ext cx="1670700" cy="6753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SD generation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6"/>
          <p:cNvSpPr/>
          <p:nvPr/>
        </p:nvSpPr>
        <p:spPr>
          <a:xfrm>
            <a:off x="7198450" y="4035888"/>
            <a:ext cx="428700" cy="4227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Timeline &amp; Next Steps</a:t>
            </a:r>
            <a:endParaRPr/>
          </a:p>
        </p:txBody>
      </p:sp>
      <p:graphicFrame>
        <p:nvGraphicFramePr>
          <p:cNvPr id="88" name="Google Shape;88;p17"/>
          <p:cNvGraphicFramePr/>
          <p:nvPr/>
        </p:nvGraphicFramePr>
        <p:xfrm>
          <a:off x="113400" y="1017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{42989465-6DD6-43E2-9F62-2A3F7CD731B6}</a:tableStyleId>
              </a:tblPr>
              <a:tblGrid>
                <a:gridCol w="4467375"/>
                <a:gridCol w="4467375"/>
              </a:tblGrid>
              <a:tr h="597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Week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Task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97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Full-caption &amp; text→image metrics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97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Scale to 1,000+ images; refine preprocessing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97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Integrate inversion head; run experiments   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97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Build round-trip demo; quantify reconstructions 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97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Write-up, polish notebooks &amp; scripts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